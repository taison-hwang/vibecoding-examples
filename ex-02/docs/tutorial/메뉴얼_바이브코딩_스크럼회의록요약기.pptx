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0"/>
            <a:ext cx="12191695" cy="7315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2000" b="1" i="0">
                <a:solidFill>
                  <a:srgbClr val="9DB8F0"/>
                </a:solidFill>
                <a:latin typeface="Apple SD Gothic Neo"/>
                <a:ea typeface="Apple SD Gothic Neo"/>
                <a:cs typeface="Apple SD Gothic Neo"/>
              </a:rPr>
              <a:t>바이브코딩 실습 메뉴얼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4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AI 스크럼 회의록 요약기 만들기</a:t>
            </a:r>
          </a:p>
          <a:p>
            <a:pPr algn="l">
              <a:lnSpc>
                <a:spcPct val="110000"/>
              </a:lnSpc>
              <a:spcAft>
                <a:spcPts val="2000"/>
              </a:spcAft>
            </a:pPr>
            <a:r>
              <a:rPr sz="1800" b="0" i="0">
                <a:solidFill>
                  <a:srgbClr val="C8D6F0"/>
                </a:solidFill>
                <a:latin typeface="Apple SD Gothic Neo"/>
                <a:ea typeface="Apple SD Gothic Neo"/>
                <a:cs typeface="Apple SD Gothic Neo"/>
              </a:rPr>
              <a:t>LLM 설계 → 코딩 에이전트 구현, 바이브코딩 풀 워크플로우 실습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1">
                <a:solidFill>
                  <a:srgbClr val="9DB8F0"/>
                </a:solidFill>
                <a:latin typeface="Apple SD Gothic Neo"/>
                <a:ea typeface="Apple SD Gothic Neo"/>
                <a:cs typeface="Apple SD Gothic Neo"/>
              </a:rPr>
              <a:t>프로젝트: AI Scrum Minutes Minimizer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852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8AA0D0"/>
                </a:solidFill>
                <a:latin typeface="Apple SD Gothic Neo"/>
                <a:ea typeface="Apple SD Gothic Neo"/>
                <a:cs typeface="Apple SD Gothic Neo"/>
              </a:rPr>
              <a:t>LLM으로 설계하고, 코딩 에이전트로 구현하는 풀 워크플로우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400" b="1" i="0">
                <a:solidFill>
                  <a:srgbClr val="1D4ED8"/>
                </a:solidFill>
                <a:latin typeface="Apple SD Gothic Neo"/>
                <a:ea typeface="Apple SD Gothic Neo"/>
                <a:cs typeface="Apple SD Gothic Neo"/>
              </a:rPr>
              <a:t>ORIENTATION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 i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무엇을 만드나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67665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1600"/>
              </a:spcAft>
            </a:pPr>
            <a:r>
              <a:rPr sz="1700" b="0" i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스크럼(데일리) 회의가 끝난 뒤, 받아 적은 회의 내용을 붙여넣으면 AI(Gemini)가 ① 핵심 요약과 ② 담당자·업무·기한이 정리된 액션 아이템을 자동으로 뽑아 주고, 버튼 한 번으로 등록된 팀원 전원에게 이메일로 전송하는 미니 웹앱을 만듭니다. 회의록 정리·공유에 드는 수작업을 거의 0에 가깝게 줄이는 것이 목표입니다.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 i="0">
                <a:solidFill>
                  <a:srgbClr val="1D4ED8"/>
                </a:solidFill>
                <a:latin typeface="Apple SD Gothic Neo"/>
                <a:ea typeface="Apple SD Gothic Neo"/>
                <a:cs typeface="Apple SD Gothic Neo"/>
              </a:rPr>
              <a:t>한 줄 흐름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 i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회의록 붙여넣기  →  AI 요약 + 액션 아이템  →  팀원 전체에게 이메일 전송</a:t>
            </a:r>
          </a:p>
        </p:txBody>
      </p:sp>
      <p:sp>
        <p:nvSpPr>
          <p:cNvPr id="6" name="Rectangle 5"/>
          <p:cNvSpPr/>
          <p:nvPr/>
        </p:nvSpPr>
        <p:spPr>
          <a:xfrm>
            <a:off x="7680960" y="1828800"/>
            <a:ext cx="3931920" cy="1143000"/>
          </a:xfrm>
          <a:prstGeom prst="rect">
            <a:avLst/>
          </a:prstGeom>
          <a:solidFill>
            <a:srgbClr val="F2F4F7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0" y="1975104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700" b="1" i="0">
                <a:solidFill>
                  <a:srgbClr val="122A5C"/>
                </a:solidFill>
                <a:latin typeface="Apple SD Gothic Neo"/>
                <a:ea typeface="Apple SD Gothic Neo"/>
                <a:cs typeface="Apple SD Gothic Neo"/>
              </a:rPr>
              <a:t>📝  회의록 입력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 i="0">
                <a:solidFill>
                  <a:srgbClr val="5A6372"/>
                </a:solidFill>
                <a:latin typeface="Apple SD Gothic Neo"/>
                <a:ea typeface="Apple SD Gothic Neo"/>
                <a:cs typeface="Apple SD Gothic Neo"/>
              </a:rPr>
              <a:t>자연어 텍스트 / 오디오</a:t>
            </a:r>
          </a:p>
        </p:txBody>
      </p:sp>
      <p:sp>
        <p:nvSpPr>
          <p:cNvPr id="8" name="Rectangle 7"/>
          <p:cNvSpPr/>
          <p:nvPr/>
        </p:nvSpPr>
        <p:spPr>
          <a:xfrm>
            <a:off x="7680960" y="3200400"/>
            <a:ext cx="3931920" cy="1143000"/>
          </a:xfrm>
          <a:prstGeom prst="rect">
            <a:avLst/>
          </a:prstGeom>
          <a:solidFill>
            <a:srgbClr val="F2F4F7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0" y="3346704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700" b="1" i="0">
                <a:solidFill>
                  <a:srgbClr val="122A5C"/>
                </a:solidFill>
                <a:latin typeface="Apple SD Gothic Neo"/>
                <a:ea typeface="Apple SD Gothic Neo"/>
                <a:cs typeface="Apple SD Gothic Neo"/>
              </a:rPr>
              <a:t>🤖  Gemini 요약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 i="0">
                <a:solidFill>
                  <a:srgbClr val="5A6372"/>
                </a:solidFill>
                <a:latin typeface="Apple SD Gothic Neo"/>
                <a:ea typeface="Apple SD Gothic Neo"/>
                <a:cs typeface="Apple SD Gothic Neo"/>
              </a:rPr>
              <a:t>요약 + 담당자·업무·기한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80960" y="4572000"/>
            <a:ext cx="3931920" cy="1143000"/>
          </a:xfrm>
          <a:prstGeom prst="rect">
            <a:avLst/>
          </a:prstGeom>
          <a:solidFill>
            <a:srgbClr val="F2F4F7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4718304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700" b="1" i="0">
                <a:solidFill>
                  <a:srgbClr val="122A5C"/>
                </a:solidFill>
                <a:latin typeface="Apple SD Gothic Neo"/>
                <a:ea typeface="Apple SD Gothic Neo"/>
                <a:cs typeface="Apple SD Gothic Neo"/>
              </a:rPr>
              <a:t>✉️  이메일 발송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 i="0">
                <a:solidFill>
                  <a:srgbClr val="5A6372"/>
                </a:solidFill>
                <a:latin typeface="Apple SD Gothic Neo"/>
                <a:ea typeface="Apple SD Gothic Neo"/>
                <a:cs typeface="Apple SD Gothic Neo"/>
              </a:rPr>
              <a:t>등록 팀원 전원에게 1-클릭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41908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100" b="0" i="0">
                <a:solidFill>
                  <a:srgbClr val="5A6372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400" b="1" i="0">
                <a:solidFill>
                  <a:srgbClr val="1D4ED8"/>
                </a:solidFill>
                <a:latin typeface="Apple SD Gothic Neo"/>
                <a:ea typeface="Apple SD Gothic Neo"/>
                <a:cs typeface="Apple SD Gothic Neo"/>
              </a:rPr>
              <a:t>ORIENTATION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 i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바이브코딩 2단계 워크플로우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920240"/>
            <a:ext cx="5349240" cy="3383280"/>
          </a:xfrm>
          <a:prstGeom prst="rect">
            <a:avLst/>
          </a:prstGeom>
          <a:solidFill>
            <a:srgbClr val="EAF3FF"/>
          </a:solidFill>
          <a:ln w="1905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48463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200" b="1" i="0">
                <a:solidFill>
                  <a:srgbClr val="1D4ED8"/>
                </a:solidFill>
                <a:latin typeface="Apple SD Gothic Neo"/>
                <a:ea typeface="Apple SD Gothic Neo"/>
                <a:cs typeface="Apple SD Gothic Neo"/>
              </a:rPr>
              <a:t>1단계 · 설계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400" b="1" i="0">
                <a:solidFill>
                  <a:srgbClr val="5A6372"/>
                </a:solidFill>
                <a:latin typeface="Apple SD Gothic Neo"/>
                <a:ea typeface="Apple SD Gothic Neo"/>
                <a:cs typeface="Apple SD Gothic Neo"/>
              </a:rPr>
              <a:t>LLM과 대화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450" b="0" i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•  Gemini · Claude 같은 범용 LLM 사용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450" b="0" i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•  설계 문서 3종 생성: URD → ADR → UI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450" b="0" i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•  각 문서: 생성(Gemini) → 리뷰(Claude)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450" b="0" i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•          → 개선(Gemini) 3-스텝 반복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450" b="0" i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•  모델을 생성자/검증자로 교차 사용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920240"/>
            <a:ext cx="5349240" cy="3383280"/>
          </a:xfrm>
          <a:prstGeom prst="rect">
            <a:avLst/>
          </a:prstGeom>
          <a:solidFill>
            <a:srgbClr val="F3EDFF"/>
          </a:solidFill>
          <a:ln w="190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2148840"/>
            <a:ext cx="48463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200" b="1" i="0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rPr>
              <a:t>2단계 · 구현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400" b="1" i="0">
                <a:solidFill>
                  <a:srgbClr val="5A6372"/>
                </a:solidFill>
                <a:latin typeface="Apple SD Gothic Neo"/>
                <a:ea typeface="Apple SD Gothic Neo"/>
                <a:cs typeface="Apple SD Gothic Neo"/>
              </a:rPr>
              <a:t>코딩 에이전트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450" b="0" i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•  Claude Code · Antigravity · Cursor 등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450" b="0" i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•  설계 문서 3종을 그대로 입력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450" b="0" i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•  개발 계획 수립 → 코드 자동 생성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450" b="0" i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•  서버 실행 · 테스트 · 버그 자동 수정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450" b="0" i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•  학습자는 '승인'과 '추가 지시'만</a:t>
            </a:r>
          </a:p>
        </p:txBody>
      </p:sp>
      <p:sp>
        <p:nvSpPr>
          <p:cNvPr id="9" name="Chevron 8"/>
          <p:cNvSpPr/>
          <p:nvPr/>
        </p:nvSpPr>
        <p:spPr>
          <a:xfrm>
            <a:off x="5897880" y="3383280"/>
            <a:ext cx="411480" cy="457200"/>
          </a:xfrm>
          <a:prstGeom prst="chevron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07040" y="641908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100" b="0" i="0">
                <a:solidFill>
                  <a:srgbClr val="5A6372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400" b="1" i="0">
                <a:solidFill>
                  <a:srgbClr val="1D4ED8"/>
                </a:solidFill>
                <a:latin typeface="Apple SD Gothic Neo"/>
                <a:ea typeface="Apple SD Gothic Neo"/>
                <a:cs typeface="Apple SD Gothic Neo"/>
              </a:rPr>
              <a:t>ORIENTATION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 i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준비물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11064240" cy="749808"/>
          </a:xfrm>
          <a:prstGeom prst="rect">
            <a:avLst/>
          </a:prstGeom>
          <a:solidFill>
            <a:srgbClr val="F2F4F7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74520"/>
            <a:ext cx="3108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 i="0">
                <a:solidFill>
                  <a:srgbClr val="122A5C"/>
                </a:solidFill>
                <a:latin typeface="Apple SD Gothic Neo"/>
                <a:ea typeface="Apple SD Gothic Neo"/>
                <a:cs typeface="Apple SD Gothic Neo"/>
              </a:rPr>
              <a:t>Node.js (v18 이상)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1874520"/>
            <a:ext cx="7589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 i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백엔드(Express)와 프론트엔드(Vite)를 로컬에서 실행. `node -v`로 설치 확인.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651760"/>
            <a:ext cx="11064240" cy="749808"/>
          </a:xfrm>
          <a:prstGeom prst="rect">
            <a:avLst/>
          </a:prstGeom>
          <a:solidFill>
            <a:srgbClr val="F2F4F7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3108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 i="0">
                <a:solidFill>
                  <a:srgbClr val="122A5C"/>
                </a:solidFill>
                <a:latin typeface="Apple SD Gothic Neo"/>
                <a:ea typeface="Apple SD Gothic Neo"/>
                <a:cs typeface="Apple SD Gothic Neo"/>
              </a:rPr>
              <a:t>범용 LLM 접근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743200"/>
            <a:ext cx="7589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 i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설계 단계용. Gemini(Google AI Studio) + Claude(claude.ai). 둘 다 무료 등급으로 충분.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520440"/>
            <a:ext cx="11064240" cy="749808"/>
          </a:xfrm>
          <a:prstGeom prst="rect">
            <a:avLst/>
          </a:prstGeom>
          <a:solidFill>
            <a:srgbClr val="F2F4F7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611880"/>
            <a:ext cx="3108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 i="0">
                <a:solidFill>
                  <a:srgbClr val="122A5C"/>
                </a:solidFill>
                <a:latin typeface="Apple SD Gothic Neo"/>
                <a:ea typeface="Apple SD Gothic Neo"/>
                <a:cs typeface="Apple SD Gothic Neo"/>
              </a:rPr>
              <a:t>코딩 에이전트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3611880"/>
            <a:ext cx="7589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 i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구현 단계용. Claude Code / Antigravity / Cursor 등 파일을 직접 만들고 명령을 실행할 수 있는 도구.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389120"/>
            <a:ext cx="11064240" cy="749808"/>
          </a:xfrm>
          <a:prstGeom prst="rect">
            <a:avLst/>
          </a:prstGeom>
          <a:solidFill>
            <a:srgbClr val="F2F4F7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480560"/>
            <a:ext cx="3108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 i="0">
                <a:solidFill>
                  <a:srgbClr val="122A5C"/>
                </a:solidFill>
                <a:latin typeface="Apple SD Gothic Neo"/>
                <a:ea typeface="Apple SD Gothic Neo"/>
                <a:cs typeface="Apple SD Gothic Neo"/>
              </a:rPr>
              <a:t>Gemini API Key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4480560"/>
            <a:ext cx="7589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 i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앱이 실제로 회의록을 요약할 때 사용. Google AI Studio에서 무료 발급. 미입력 시 Mock(가짜) 응답으로도 실습 가능.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257800"/>
            <a:ext cx="11064240" cy="749808"/>
          </a:xfrm>
          <a:prstGeom prst="rect">
            <a:avLst/>
          </a:prstGeom>
          <a:solidFill>
            <a:srgbClr val="F2F4F7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349240"/>
            <a:ext cx="3108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 i="0">
                <a:solidFill>
                  <a:srgbClr val="122A5C"/>
                </a:solidFill>
                <a:latin typeface="Apple SD Gothic Neo"/>
                <a:ea typeface="Apple SD Gothic Neo"/>
                <a:cs typeface="Apple SD Gothic Neo"/>
              </a:rPr>
              <a:t>Gmail 계정 + 앱 비밀번호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5349240"/>
            <a:ext cx="7589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 i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실제 이메일 발송용. 2단계 인증을 켠 뒤 '앱 비밀번호' 16자를 발급. 어려우면 Mailtrap으로 대체 가능.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1908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100" b="0" i="0">
                <a:solidFill>
                  <a:srgbClr val="5A6372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17520"/>
            <a:ext cx="12191695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2200" b="1" i="0">
                <a:solidFill>
                  <a:srgbClr val="9DB8F0"/>
                </a:solidFill>
                <a:latin typeface="Apple SD Gothic Neo"/>
                <a:ea typeface="Apple SD Gothic Neo"/>
                <a:cs typeface="Apple SD Gothic Neo"/>
              </a:rPr>
              <a:t>PART 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설계 단계 — LLM과 대화로 설계 문서 3종 만들기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2976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0" i="0">
                <a:solidFill>
                  <a:srgbClr val="C8D6F0"/>
                </a:solidFill>
                <a:latin typeface="Apple SD Gothic Neo"/>
                <a:ea typeface="Apple SD Gothic Neo"/>
                <a:cs typeface="Apple SD Gothic Neo"/>
              </a:rPr>
              <a:t>요구사항 정의서(URD)  ·  아키텍처 결정 기록(ADR)  ·  UI 컨셉 프로토타입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400" b="1" i="0">
                <a:solidFill>
                  <a:srgbClr val="1D4ED8"/>
                </a:solidFill>
                <a:latin typeface="Apple SD Gothic Neo"/>
                <a:ea typeface="Apple SD Gothic Neo"/>
                <a:cs typeface="Apple SD Gothic Neo"/>
              </a:rPr>
              <a:t>PART 1 · 공통 패턴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 i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생성 → 리뷰 → 개선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011680"/>
            <a:ext cx="3520440" cy="2468880"/>
          </a:xfrm>
          <a:prstGeom prst="rect">
            <a:avLst/>
          </a:prstGeom>
          <a:solidFill>
            <a:srgbClr val="F2F4F7"/>
          </a:solidFill>
          <a:ln w="1905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011680"/>
            <a:ext cx="3520440" cy="59436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84831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①  생성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8892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 i="0">
                <a:solidFill>
                  <a:srgbClr val="1D4ED8"/>
                </a:solidFill>
                <a:latin typeface="Apple SD Gothic Neo"/>
                <a:ea typeface="Apple SD Gothic Neo"/>
                <a:cs typeface="Apple SD Gothic Neo"/>
              </a:rPr>
              <a:t>대상: Gemini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50" b="0" i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시스템 지침 + 요구사항을 주고 초안 생성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60" y="2011680"/>
            <a:ext cx="3520440" cy="2468880"/>
          </a:xfrm>
          <a:prstGeom prst="rect">
            <a:avLst/>
          </a:prstGeom>
          <a:solidFill>
            <a:srgbClr val="F2F4F7"/>
          </a:solidFill>
          <a:ln w="190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1960" y="2011680"/>
            <a:ext cx="3520440" cy="5943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2084831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②  리뷰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78892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 i="0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rPr>
              <a:t>대상: Claude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50" b="0" i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초안을 붙여넣어 사실 오류·설계 공백 검증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80" y="2011680"/>
            <a:ext cx="3520440" cy="2468880"/>
          </a:xfrm>
          <a:prstGeom prst="rect">
            <a:avLst/>
          </a:prstGeom>
          <a:solidFill>
            <a:srgbClr val="F2F4F7"/>
          </a:solidFill>
          <a:ln w="1905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55280" y="2011680"/>
            <a:ext cx="3520440" cy="59436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0" y="2084831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③  개선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278892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 i="0">
                <a:solidFill>
                  <a:srgbClr val="1D4ED8"/>
                </a:solidFill>
                <a:latin typeface="Apple SD Gothic Neo"/>
                <a:ea typeface="Apple SD Gothic Neo"/>
                <a:cs typeface="Apple SD Gothic Neo"/>
              </a:rPr>
              <a:t>대상: Gemini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50" b="0" i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리뷰를 반영해 최종본으로 다듬기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84632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1" i="0">
                <a:solidFill>
                  <a:srgbClr val="1D4ED8"/>
                </a:solidFill>
                <a:latin typeface="Apple SD Gothic Neo"/>
                <a:ea typeface="Apple SD Gothic Neo"/>
                <a:cs typeface="Apple SD Gothic Neo"/>
              </a:rPr>
              <a:t>핵심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50" b="0" i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서로 다른 모델을 '생성자'와 '검증자'로 교차시켜 한 모델의 약점(사실 오류·보안 공백)을 보완한다. 이 3-스텝을 URD·ADR·UI 세 문서에 똑같이 반복한다.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41908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100" b="0" i="0">
                <a:solidFill>
                  <a:srgbClr val="5A6372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400" b="1" i="0">
                <a:solidFill>
                  <a:srgbClr val="1D4ED8"/>
                </a:solidFill>
                <a:latin typeface="Apple SD Gothic Neo"/>
                <a:ea typeface="Apple SD Gothic Neo"/>
                <a:cs typeface="Apple SD Gothic Neo"/>
              </a:rPr>
              <a:t>PART 1 · URD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 i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요구사항 정의서(URD) 만들기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5760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400" b="1" i="0">
                <a:solidFill>
                  <a:srgbClr val="0A7A3F"/>
                </a:solidFill>
                <a:latin typeface="Apple SD Gothic Neo"/>
                <a:ea typeface="Apple SD Gothic Neo"/>
                <a:cs typeface="Apple SD Gothic Neo"/>
              </a:rPr>
              <a:t>최종 산출물: 04-final-urd.md (요구사항 정의서)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00" b="1" i="0">
                <a:solidFill>
                  <a:srgbClr val="1D4ED8"/>
                </a:solidFill>
                <a:latin typeface="Apple SD Gothic Neo"/>
                <a:ea typeface="Apple SD Gothic Neo"/>
                <a:cs typeface="Apple SD Gothic Neo"/>
              </a:rPr>
              <a:t>요구사항 초안 생성  (Gemini)</a:t>
            </a:r>
          </a:p>
          <a:p>
            <a:pPr algn="l">
              <a:lnSpc>
                <a:spcPct val="118000"/>
              </a:lnSpc>
              <a:spcAft>
                <a:spcPts val="900"/>
              </a:spcAft>
            </a:pPr>
            <a:r>
              <a:rPr sz="1250" b="0" i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Gemini가 프로젝트 배경·목적·대상 사용자·구현 단계(MVP/확장)·UI 요구사항·기술 스택이 담긴 요구사항 정의서 초안을 Markdown으로 출력합니다..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00" b="1" i="0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rPr>
              <a:t>비판적 리뷰  (Claude)</a:t>
            </a:r>
          </a:p>
          <a:p>
            <a:pPr algn="l">
              <a:lnSpc>
                <a:spcPct val="118000"/>
              </a:lnSpc>
              <a:spcAft>
                <a:spcPts val="900"/>
              </a:spcAft>
            </a:pPr>
            <a:r>
              <a:rPr sz="1250" b="0" i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Claude가 7가지 지적을 내놓습니다: 오디오 직접 스트리밍 불가, 앱 비밀번호 전제(2단계 인증), '무료 한도 넉넉함' 표현 과장, API 키 프론트 노출 위험(가장 중요), Node/Python 스택 혼재, 이메일 실패 UX 미정의, Gemini 응답 JSON 스키마 부재..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00" b="1" i="0">
                <a:solidFill>
                  <a:srgbClr val="1D4ED8"/>
                </a:solidFill>
                <a:latin typeface="Apple SD Gothic Neo"/>
                <a:ea typeface="Apple SD Gothic Neo"/>
                <a:cs typeface="Apple SD Gothic Neo"/>
              </a:rPr>
              <a:t>리뷰 반영 개선 → 최종 URD  (Gemini)</a:t>
            </a:r>
          </a:p>
          <a:p>
            <a:pPr algn="l">
              <a:lnSpc>
                <a:spcPct val="118000"/>
              </a:lnSpc>
              <a:spcAft>
                <a:spcPts val="900"/>
              </a:spcAft>
            </a:pPr>
            <a:r>
              <a:rPr sz="1250" b="0" i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Gemini가 7개 지적을 반영한 최종 URD를 출력합니다: 오디오는 'File API 경유'로 정정, API 키 백엔드 전용 보안 지침 추가, 백엔드/이메일 스택 조합표, 에러 UX, Gemini 응답 JSON 스키마 계약(summary + action_items[owner,task,due]), Mailtrap/Resend 대안 등.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92240" y="1783080"/>
            <a:ext cx="5120640" cy="4480560"/>
          </a:xfrm>
          <a:prstGeom prst="rect">
            <a:avLst/>
          </a:prstGeom>
          <a:solidFill>
            <a:srgbClr val="F2F4F7"/>
          </a:solidFill>
          <a:ln w="15875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92240" y="1783080"/>
            <a:ext cx="82296" cy="448056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93408" y="1892808"/>
            <a:ext cx="4754880" cy="4261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 i="0">
                <a:solidFill>
                  <a:srgbClr val="1D4ED8"/>
                </a:solidFill>
                <a:latin typeface="Apple SD Gothic Neo"/>
                <a:ea typeface="Apple SD Gothic Neo"/>
                <a:cs typeface="Apple SD Gothic Neo"/>
              </a:rPr>
              <a:t>URD 생성 프롬프트 (요약본)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50" b="0" i="0">
                <a:solidFill>
                  <a:srgbClr val="1F2937"/>
                </a:solidFill>
                <a:latin typeface="D2Coding"/>
                <a:ea typeface="D2Coding"/>
                <a:cs typeface="D2Coding"/>
              </a:rPr>
              <a:t>바이브코딩 교육실습을 위한 미니 프로젝트를 진행하려고 합니다.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50" b="0" i="0">
                <a:solidFill>
                  <a:srgbClr val="1F2937"/>
                </a:solidFill>
                <a:latin typeface="D2Coding"/>
                <a:ea typeface="D2Coding"/>
                <a:cs typeface="D2Coding"/>
              </a:rPr>
              <a:t>해당 프로젝트의 요구사항 정의서를 md파일로 작성해주세요.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50" b="0" i="0">
                <a:solidFill>
                  <a:srgbClr val="1F2937"/>
                </a:solidFill>
                <a:latin typeface="D2Coding"/>
                <a:ea typeface="D2Coding"/>
                <a:cs typeface="D2Coding"/>
              </a:rPr>
              <a:t> 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50" b="0" i="0">
                <a:solidFill>
                  <a:srgbClr val="1F2937"/>
                </a:solidFill>
                <a:latin typeface="D2Coding"/>
                <a:ea typeface="D2Coding"/>
                <a:cs typeface="D2Coding"/>
              </a:rPr>
              <a:t>[핵심 요구사항]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50" b="0" i="0">
                <a:solidFill>
                  <a:srgbClr val="1F2937"/>
                </a:solidFill>
                <a:latin typeface="D2Coding"/>
                <a:ea typeface="D2Coding"/>
                <a:cs typeface="D2Coding"/>
              </a:rPr>
              <a:t>  · 스크럼 회의 요약 + 액션 아이템 도출 → 팀원 이메일 발송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50" b="0" i="0">
                <a:solidFill>
                  <a:srgbClr val="1F2937"/>
                </a:solidFill>
                <a:latin typeface="D2Coding"/>
                <a:ea typeface="D2Coding"/>
                <a:cs typeface="D2Coding"/>
              </a:rPr>
              <a:t>  · 입력: 텍스트(필수) / 오디오(가능하면)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50" b="0" i="0">
                <a:solidFill>
                  <a:srgbClr val="1F2937"/>
                </a:solidFill>
                <a:latin typeface="D2Coding"/>
                <a:ea typeface="D2Coding"/>
                <a:cs typeface="D2Coding"/>
              </a:rPr>
              <a:t>  · Gemini API로 요약, 결과 UI 출력, Gmail 발송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50" b="0" i="0">
                <a:solidFill>
                  <a:srgbClr val="1F2937"/>
                </a:solidFill>
                <a:latin typeface="D2Coding"/>
                <a:ea typeface="D2Coding"/>
                <a:cs typeface="D2Coding"/>
              </a:rPr>
              <a:t> 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50" b="0" i="0">
                <a:solidFill>
                  <a:srgbClr val="1F2937"/>
                </a:solidFill>
                <a:latin typeface="D2Coding"/>
                <a:ea typeface="D2Coding"/>
                <a:cs typeface="D2Coding"/>
              </a:rPr>
              <a:t>[작성지침] (요구사항분석 어시스턴트 시스템 지침 전문)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50" b="0" i="0">
                <a:solidFill>
                  <a:srgbClr val="1F2937"/>
                </a:solidFill>
                <a:latin typeface="D2Coding"/>
                <a:ea typeface="D2Coding"/>
                <a:cs typeface="D2Coding"/>
              </a:rPr>
              <a:t>  → 전체 프롬프트는 실습교제(docx) Step 1-1 참조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1908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100" b="0" i="0">
                <a:solidFill>
                  <a:srgbClr val="5A6372"/>
                </a:solidFill>
                <a:latin typeface="Apple SD Gothic Neo"/>
                <a:ea typeface="Apple SD Gothic Neo"/>
                <a:cs typeface="Apple SD Gothic Neo"/>
              </a:rPr>
              <a:t>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400" b="1" i="0">
                <a:solidFill>
                  <a:srgbClr val="1D4ED8"/>
                </a:solidFill>
                <a:latin typeface="Apple SD Gothic Neo"/>
                <a:ea typeface="Apple SD Gothic Neo"/>
                <a:cs typeface="Apple SD Gothic Neo"/>
              </a:rPr>
              <a:t>PART 1 · ADR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 i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아키텍처 결정 기록(ADR) 만들기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5760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400" b="1" i="0">
                <a:solidFill>
                  <a:srgbClr val="0A7A3F"/>
                </a:solidFill>
                <a:latin typeface="Apple SD Gothic Neo"/>
                <a:ea typeface="Apple SD Gothic Neo"/>
                <a:cs typeface="Apple SD Gothic Neo"/>
              </a:rPr>
              <a:t>최종 산출물: 08-final-adr.md (아키텍처 결정 기록)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00" b="1" i="0">
                <a:solidFill>
                  <a:srgbClr val="1D4ED8"/>
                </a:solidFill>
                <a:latin typeface="Apple SD Gothic Neo"/>
                <a:ea typeface="Apple SD Gothic Neo"/>
                <a:cs typeface="Apple SD Gothic Neo"/>
              </a:rPr>
              <a:t>ADR 초안 생성  (Gemini)</a:t>
            </a:r>
          </a:p>
          <a:p>
            <a:pPr algn="l">
              <a:lnSpc>
                <a:spcPct val="118000"/>
              </a:lnSpc>
              <a:spcAft>
                <a:spcPts val="900"/>
              </a:spcAft>
            </a:pPr>
            <a:r>
              <a:rPr sz="1250" b="0" i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Gemini가 후보 아키텍처(클라이언트 단독 / 2-Tier / MSA)를 평가 매트릭스로 비교하고 '2-Tier 분리형' 구조를 선택한 ADR 초안을 출력합니다..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00" b="1" i="0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rPr>
              <a:t>비판적 리뷰  (Claude)</a:t>
            </a:r>
          </a:p>
          <a:p>
            <a:pPr algn="l">
              <a:lnSpc>
                <a:spcPct val="118000"/>
              </a:lnSpc>
              <a:spcAft>
                <a:spcPts val="900"/>
              </a:spcAft>
            </a:pPr>
            <a:r>
              <a:rPr sz="1250" b="0" i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Claude가 6가지 지적: '분리형 모놀리식'은 모순된 용어(→'2-Tier 클라이언트-서버'), gemini-2.5-flash '오디오 최적화'는 과장, .gitignore 보안 누락, CORS 설정 누락, Mailtrap을 1순위로 권장, 평가 매트릭스에 보안 가중치/탈락 조건 명시 필요..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00" b="1" i="0">
                <a:solidFill>
                  <a:srgbClr val="1D4ED8"/>
                </a:solidFill>
                <a:latin typeface="Apple SD Gothic Neo"/>
                <a:ea typeface="Apple SD Gothic Neo"/>
                <a:cs typeface="Apple SD Gothic Neo"/>
              </a:rPr>
              <a:t>리뷰 반영 개선 → 최종 ADR  (Gemini)</a:t>
            </a:r>
          </a:p>
          <a:p>
            <a:pPr algn="l">
              <a:lnSpc>
                <a:spcPct val="118000"/>
              </a:lnSpc>
              <a:spcAft>
                <a:spcPts val="900"/>
              </a:spcAft>
            </a:pPr>
            <a:r>
              <a:rPr sz="1250" b="0" i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용어를 '2-Tier 클라이언트-서버'로 정정, 평가 매트릭스에 보안 Pass/Fail 과락 규칙 도입, CORS 필수 항목 추가, Mailtrap/Resend 1순위·Gmail 2순위로 재배치, .gitignore 비고 추가.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92240" y="1783080"/>
            <a:ext cx="5120640" cy="4480560"/>
          </a:xfrm>
          <a:prstGeom prst="rect">
            <a:avLst/>
          </a:prstGeom>
          <a:solidFill>
            <a:srgbClr val="F2F4F7"/>
          </a:solidFill>
          <a:ln w="15875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92240" y="1783080"/>
            <a:ext cx="82296" cy="448056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93408" y="1892808"/>
            <a:ext cx="4754880" cy="4261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 i="0">
                <a:solidFill>
                  <a:srgbClr val="1D4ED8"/>
                </a:solidFill>
                <a:latin typeface="Apple SD Gothic Neo"/>
                <a:ea typeface="Apple SD Gothic Neo"/>
                <a:cs typeface="Apple SD Gothic Neo"/>
              </a:rPr>
              <a:t>ADR 생성 프롬프트 (요약본)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50" b="0" i="0">
                <a:solidFill>
                  <a:srgbClr val="1F2937"/>
                </a:solidFill>
                <a:latin typeface="D2Coding"/>
                <a:ea typeface="D2Coding"/>
                <a:cs typeface="D2Coding"/>
              </a:rPr>
              <a:t>요구사항정의서 및 작성지침을 참조하여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50" b="0" i="0">
                <a:solidFill>
                  <a:srgbClr val="1F2937"/>
                </a:solidFill>
                <a:latin typeface="D2Coding"/>
                <a:ea typeface="D2Coding"/>
                <a:cs typeface="D2Coding"/>
              </a:rPr>
              <a:t>ADR(Architecture Decision Records)를 md파일로 작성해주세요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50" b="0" i="0">
                <a:solidFill>
                  <a:srgbClr val="1F2937"/>
                </a:solidFill>
                <a:latin typeface="D2Coding"/>
                <a:ea typeface="D2Coding"/>
                <a:cs typeface="D2Coding"/>
              </a:rPr>
              <a:t> 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50" b="0" i="0">
                <a:solidFill>
                  <a:srgbClr val="1F2937"/>
                </a:solidFill>
                <a:latin typeface="D2Coding"/>
                <a:ea typeface="D2Coding"/>
                <a:cs typeface="D2Coding"/>
              </a:rPr>
              <a:t>[요구사항정의서]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50" b="0" i="0">
                <a:solidFill>
                  <a:srgbClr val="1F2937"/>
                </a:solidFill>
                <a:latin typeface="D2Coding"/>
                <a:ea typeface="D2Coding"/>
                <a:cs typeface="D2Coding"/>
              </a:rPr>
              <a:t>  → 1단계에서 만든 최종 URD 전문을 붙여넣기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50" b="0" i="0">
                <a:solidFill>
                  <a:srgbClr val="1F2937"/>
                </a:solidFill>
                <a:latin typeface="D2Coding"/>
                <a:ea typeface="D2Coding"/>
                <a:cs typeface="D2Coding"/>
              </a:rPr>
              <a:t> 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50" b="0" i="0">
                <a:solidFill>
                  <a:srgbClr val="1F2937"/>
                </a:solidFill>
                <a:latin typeface="D2Coding"/>
                <a:ea typeface="D2Coding"/>
                <a:cs typeface="D2Coding"/>
              </a:rPr>
              <a:t>[작성지침] (ADR 생성 어시스턴트 시스템 지침 전문)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50" b="0" i="0">
                <a:solidFill>
                  <a:srgbClr val="1F2937"/>
                </a:solidFill>
                <a:latin typeface="D2Coding"/>
                <a:ea typeface="D2Coding"/>
                <a:cs typeface="D2Coding"/>
              </a:rPr>
              <a:t>  → 전체 프롬프트는 실습교제(docx) Step 2-1 참조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1908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100" b="0" i="0">
                <a:solidFill>
                  <a:srgbClr val="5A6372"/>
                </a:solidFill>
                <a:latin typeface="Apple SD Gothic Neo"/>
                <a:ea typeface="Apple SD Gothic Neo"/>
                <a:cs typeface="Apple SD Gothic Neo"/>
              </a:rPr>
              <a:t>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400" b="1" i="0">
                <a:solidFill>
                  <a:srgbClr val="1D4ED8"/>
                </a:solidFill>
                <a:latin typeface="Apple SD Gothic Neo"/>
                <a:ea typeface="Apple SD Gothic Neo"/>
                <a:cs typeface="Apple SD Gothic Neo"/>
              </a:rPr>
              <a:t>PART 1 · UI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 i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UI 컨셉 프로토타입 설계서 만들기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5760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400" b="1" i="0">
                <a:solidFill>
                  <a:srgbClr val="0A7A3F"/>
                </a:solidFill>
                <a:latin typeface="Apple SD Gothic Neo"/>
                <a:ea typeface="Apple SD Gothic Neo"/>
                <a:cs typeface="Apple SD Gothic Neo"/>
              </a:rPr>
              <a:t>최종 산출물: 12-final-ui.md (UI 컨셉 프로토타입 설계서)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00" b="1" i="0">
                <a:solidFill>
                  <a:srgbClr val="1D4ED8"/>
                </a:solidFill>
                <a:latin typeface="Apple SD Gothic Neo"/>
                <a:ea typeface="Apple SD Gothic Neo"/>
                <a:cs typeface="Apple SD Gothic Neo"/>
              </a:rPr>
              <a:t>UI 프로토타입 문서 생성  (Gemini)</a:t>
            </a:r>
          </a:p>
          <a:p>
            <a:pPr algn="l">
              <a:lnSpc>
                <a:spcPct val="118000"/>
              </a:lnSpc>
              <a:spcAft>
                <a:spcPts val="900"/>
              </a:spcAft>
            </a:pPr>
            <a:r>
              <a:rPr sz="1250" b="0" i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Gemini가 UI 요구사항 매트릭스·와이어프레임·Mock API·에러 UX가 담긴 설계서를 출력합니다.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00" b="1" i="0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rPr>
              <a:t>비판적 리뷰  (Claude)</a:t>
            </a:r>
          </a:p>
          <a:p>
            <a:pPr algn="l">
              <a:lnSpc>
                <a:spcPct val="118000"/>
              </a:lnSpc>
              <a:spcAft>
                <a:spcPts val="900"/>
              </a:spcAft>
            </a:pPr>
            <a:r>
              <a:rPr sz="1250" b="0" i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Claude가 8가지 지적: 문서 포맷 자체가 'Python 스크립트로 md 생성'이라 읽기 어려움(심각), F-01 AI 명세 불일치, F-02 입력 '없음'은 부적절(상태 주입), 이메일 정규식 한계, useLocalStorage key 변경 버그, 와이어프레임-컴포넌트 불일치, 탭 배지 의미 미정의, 모달 vs 토스트 사용 기준 부재..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00" b="1" i="0">
                <a:solidFill>
                  <a:srgbClr val="1D4ED8"/>
                </a:solidFill>
                <a:latin typeface="Apple SD Gothic Neo"/>
                <a:ea typeface="Apple SD Gothic Neo"/>
                <a:cs typeface="Apple SD Gothic Neo"/>
              </a:rPr>
              <a:t>리뷰 반영 개선 → 최종 UI 설계서  (Gemini)</a:t>
            </a:r>
          </a:p>
          <a:p>
            <a:pPr algn="l">
              <a:lnSpc>
                <a:spcPct val="118000"/>
              </a:lnSpc>
              <a:spcAft>
                <a:spcPts val="900"/>
              </a:spcAft>
            </a:pPr>
            <a:r>
              <a:rPr sz="1250" b="0" i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Python 스크립트 래퍼 제거(순수 .md), F-01에 '백엔드 경유 Gemini' 명시, F-02 입력을 '상태 주입'으로 정정, 동적 배지 카운트 추가, 와이어프레임에 컴포넌트 레이블, useLocalStorage 한계 주석, 전체 실패→모달/부분 실패→토스트 기준 분리, HTML5 email+정규식 병행 검증 명시.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92240" y="1783080"/>
            <a:ext cx="5120640" cy="4480560"/>
          </a:xfrm>
          <a:prstGeom prst="rect">
            <a:avLst/>
          </a:prstGeom>
          <a:solidFill>
            <a:srgbClr val="F2F4F7"/>
          </a:solidFill>
          <a:ln w="15875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92240" y="1783080"/>
            <a:ext cx="82296" cy="448056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93408" y="1892808"/>
            <a:ext cx="4754880" cy="4261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 i="0">
                <a:solidFill>
                  <a:srgbClr val="1D4ED8"/>
                </a:solidFill>
                <a:latin typeface="Apple SD Gothic Neo"/>
                <a:ea typeface="Apple SD Gothic Neo"/>
                <a:cs typeface="Apple SD Gothic Neo"/>
              </a:rPr>
              <a:t>UI 생성 프롬프트 (요약본)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50" b="0" i="0">
                <a:solidFill>
                  <a:srgbClr val="1F2937"/>
                </a:solidFill>
                <a:latin typeface="D2Coding"/>
                <a:ea typeface="D2Coding"/>
                <a:cs typeface="D2Coding"/>
              </a:rPr>
              <a:t>입력된 요구사항과 작성지침을 참조하여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50" b="0" i="0">
                <a:solidFill>
                  <a:srgbClr val="1F2937"/>
                </a:solidFill>
                <a:latin typeface="D2Coding"/>
                <a:ea typeface="D2Coding"/>
                <a:cs typeface="D2Coding"/>
              </a:rPr>
              <a:t>UI 컨셉 프로토타입 문서를 작성해주세요.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50" b="0" i="0">
                <a:solidFill>
                  <a:srgbClr val="1F2937"/>
                </a:solidFill>
                <a:latin typeface="D2Coding"/>
                <a:ea typeface="D2Coding"/>
                <a:cs typeface="D2Coding"/>
              </a:rPr>
              <a:t> 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50" b="0" i="0">
                <a:solidFill>
                  <a:srgbClr val="1F2937"/>
                </a:solidFill>
                <a:latin typeface="D2Coding"/>
                <a:ea typeface="D2Coding"/>
                <a:cs typeface="D2Coding"/>
              </a:rPr>
              <a:t>[요구사항]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50" b="0" i="0">
                <a:solidFill>
                  <a:srgbClr val="1F2937"/>
                </a:solidFill>
                <a:latin typeface="D2Coding"/>
                <a:ea typeface="D2Coding"/>
                <a:cs typeface="D2Coding"/>
              </a:rPr>
              <a:t>  → 1단계에서 만든 최종 URD 전문을 붙여넣기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50" b="0" i="0">
                <a:solidFill>
                  <a:srgbClr val="1F2937"/>
                </a:solidFill>
                <a:latin typeface="D2Coding"/>
                <a:ea typeface="D2Coding"/>
                <a:cs typeface="D2Coding"/>
              </a:rPr>
              <a:t> 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50" b="0" i="0">
                <a:solidFill>
                  <a:srgbClr val="1F2937"/>
                </a:solidFill>
                <a:latin typeface="D2Coding"/>
                <a:ea typeface="D2Coding"/>
                <a:cs typeface="D2Coding"/>
              </a:rPr>
              <a:t>[작성지침] (UI 컨셉/프로토타입 어시스턴트 시스템 지침 전문)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50" b="0" i="0">
                <a:solidFill>
                  <a:srgbClr val="1F2937"/>
                </a:solidFill>
                <a:latin typeface="D2Coding"/>
                <a:ea typeface="D2Coding"/>
                <a:cs typeface="D2Coding"/>
              </a:rPr>
              <a:t>  → 전체 프롬프트는 실습교제(docx) Step 3-1 참조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1908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100" b="0" i="0">
                <a:solidFill>
                  <a:srgbClr val="5A6372"/>
                </a:solidFill>
                <a:latin typeface="Apple SD Gothic Neo"/>
                <a:ea typeface="Apple SD Gothic Neo"/>
                <a:cs typeface="Apple SD Gothic Neo"/>
              </a:rPr>
              <a:t>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14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17520"/>
            <a:ext cx="12191695" cy="5486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2200" b="1" i="0">
                <a:solidFill>
                  <a:srgbClr val="C4A8F5"/>
                </a:solidFill>
                <a:latin typeface="Apple SD Gothic Neo"/>
                <a:ea typeface="Apple SD Gothic Neo"/>
                <a:cs typeface="Apple SD Gothic Neo"/>
              </a:rPr>
              <a:t>PART 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구현 단계 — 코딩 에이전트로 바이브코딩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2976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0" i="0">
                <a:solidFill>
                  <a:srgbClr val="D8C8F5"/>
                </a:solidFill>
                <a:latin typeface="Apple SD Gothic Neo"/>
                <a:ea typeface="Apple SD Gothic Neo"/>
                <a:cs typeface="Apple SD Gothic Neo"/>
              </a:rPr>
              <a:t>설계 문서 3종을 에이전트에 넘기면, 계획 수립 → 코드 생성 → 실행 → 디버깅까지 자동 진행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400" b="1" i="0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rPr>
              <a:t>PART 2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 i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구현 6단계 흐름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868680" cy="5669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47088"/>
            <a:ext cx="868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4-1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755648"/>
            <a:ext cx="10058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550" b="1" i="0">
                <a:solidFill>
                  <a:srgbClr val="122A5C"/>
                </a:solidFill>
                <a:latin typeface="Apple SD Gothic Neo"/>
                <a:ea typeface="Apple SD Gothic Neo"/>
                <a:cs typeface="Apple SD Gothic Neo"/>
              </a:rPr>
              <a:t>설계 문서 분석 → 구현 시작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 i="0">
                <a:solidFill>
                  <a:srgbClr val="5A6372"/>
                </a:solidFill>
                <a:latin typeface="Apple SD Gothic Neo"/>
                <a:ea typeface="Apple SD Gothic Neo"/>
                <a:cs typeface="Apple SD Gothic Neo"/>
              </a:rPr>
              <a:t>@final-docs 멘션, 계획서 작성 후 승인 요청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450592"/>
            <a:ext cx="868680" cy="5669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560320"/>
            <a:ext cx="868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4-2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2468880"/>
            <a:ext cx="10058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550" b="1" i="0">
                <a:solidFill>
                  <a:srgbClr val="122A5C"/>
                </a:solidFill>
                <a:latin typeface="Apple SD Gothic Neo"/>
                <a:ea typeface="Apple SD Gothic Neo"/>
                <a:cs typeface="Apple SD Gothic Neo"/>
              </a:rPr>
              <a:t>계획 승인 → 백엔드 구현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 i="0">
                <a:solidFill>
                  <a:srgbClr val="5A6372"/>
                </a:solidFill>
                <a:latin typeface="Apple SD Gothic Neo"/>
                <a:ea typeface="Apple SD Gothic Neo"/>
                <a:cs typeface="Apple SD Gothic Neo"/>
              </a:rPr>
              <a:t>Express + Gemini/메일 서비스 + 3개 엔드포인트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163824"/>
            <a:ext cx="868680" cy="5669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273552"/>
            <a:ext cx="868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4-3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3182112"/>
            <a:ext cx="10058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550" b="1" i="0">
                <a:solidFill>
                  <a:srgbClr val="122A5C"/>
                </a:solidFill>
                <a:latin typeface="Apple SD Gothic Neo"/>
                <a:ea typeface="Apple SD Gothic Neo"/>
                <a:cs typeface="Apple SD Gothic Neo"/>
              </a:rPr>
              <a:t>프론트 구현 + 첫 실행/디버깅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 i="0">
                <a:solidFill>
                  <a:srgbClr val="5A6372"/>
                </a:solidFill>
                <a:latin typeface="Apple SD Gothic Neo"/>
                <a:ea typeface="Apple SD Gothic Neo"/>
                <a:cs typeface="Apple SD Gothic Neo"/>
              </a:rPr>
              <a:t>React/Vite/Tailwind, 트러블슈팅 3종 자동 해결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877056"/>
            <a:ext cx="868680" cy="5669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986784"/>
            <a:ext cx="868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4-4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3895344"/>
            <a:ext cx="10058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550" b="1" i="0">
                <a:solidFill>
                  <a:srgbClr val="122A5C"/>
                </a:solidFill>
                <a:latin typeface="Apple SD Gothic Neo"/>
                <a:ea typeface="Apple SD Gothic Neo"/>
                <a:cs typeface="Apple SD Gothic Neo"/>
              </a:rPr>
              <a:t>Gemini API 키 반영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 i="0">
                <a:solidFill>
                  <a:srgbClr val="5A6372"/>
                </a:solidFill>
                <a:latin typeface="Apple SD Gothic Neo"/>
                <a:ea typeface="Apple SD Gothic Neo"/>
                <a:cs typeface="Apple SD Gothic Neo"/>
              </a:rPr>
              <a:t>.env에 키 입력 → 재기동 → 실제 AI 요약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590288"/>
            <a:ext cx="868680" cy="5669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700016"/>
            <a:ext cx="868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4-5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4608576"/>
            <a:ext cx="10058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550" b="1" i="0">
                <a:solidFill>
                  <a:srgbClr val="122A5C"/>
                </a:solidFill>
                <a:latin typeface="Apple SD Gothic Neo"/>
                <a:ea typeface="Apple SD Gothic Neo"/>
                <a:cs typeface="Apple SD Gothic Neo"/>
              </a:rPr>
              <a:t>Gmail 실제 연동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 i="0">
                <a:solidFill>
                  <a:srgbClr val="5A6372"/>
                </a:solidFill>
                <a:latin typeface="Apple SD Gothic Neo"/>
                <a:ea typeface="Apple SD Gothic Neo"/>
                <a:cs typeface="Apple SD Gothic Neo"/>
              </a:rPr>
              <a:t>SMTP를 Gmail로 교체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303520"/>
            <a:ext cx="868680" cy="5669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5413248"/>
            <a:ext cx="868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4-6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5321808"/>
            <a:ext cx="10058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550" b="1" i="0">
                <a:solidFill>
                  <a:srgbClr val="122A5C"/>
                </a:solidFill>
                <a:latin typeface="Apple SD Gothic Neo"/>
                <a:ea typeface="Apple SD Gothic Neo"/>
                <a:cs typeface="Apple SD Gothic Neo"/>
              </a:rPr>
              <a:t>재실행 → .env 버그 수정 → 발송 성공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 i="0">
                <a:solidFill>
                  <a:srgbClr val="5A6372"/>
                </a:solidFill>
                <a:latin typeface="Apple SD Gothic Neo"/>
                <a:ea typeface="Apple SD Gothic Neo"/>
                <a:cs typeface="Apple SD Gothic Neo"/>
              </a:rPr>
              <a:t>절대경로 dotenv로 수정, 실제 메일 발송 확인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641908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100" b="0" i="0">
                <a:solidFill>
                  <a:srgbClr val="5A6372"/>
                </a:solidFill>
                <a:latin typeface="Apple SD Gothic Neo"/>
                <a:ea typeface="Apple SD Gothic Neo"/>
                <a:cs typeface="Apple SD Gothic Neo"/>
              </a:rPr>
              <a:t>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400" b="1" i="0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rPr>
              <a:t>PART 2 · 핵심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 i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단 한 줄로 구현 시작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11064240" cy="1554480"/>
          </a:xfrm>
          <a:prstGeom prst="rect">
            <a:avLst/>
          </a:prstGeom>
          <a:solidFill>
            <a:srgbClr val="F2F4F7"/>
          </a:solidFill>
          <a:ln w="15875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82296" cy="155448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938528"/>
            <a:ext cx="10698480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 i="0">
                <a:solidFill>
                  <a:srgbClr val="1D4ED8"/>
                </a:solidFill>
                <a:latin typeface="Apple SD Gothic Neo"/>
                <a:ea typeface="Apple SD Gothic Neo"/>
                <a:cs typeface="Apple SD Gothic Neo"/>
              </a:rPr>
              <a:t>Step 4-1 입력 프롬프트 (경로는 본인 PC 절대경로로 변경)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50" b="0" i="0">
                <a:solidFill>
                  <a:srgbClr val="1F2937"/>
                </a:solidFill>
                <a:latin typeface="D2Coding"/>
                <a:ea typeface="D2Coding"/>
                <a:cs typeface="D2Coding"/>
              </a:rPr>
              <a:t>@[/Users/.../docs/final-docs] 의 URD, ADR, UI 각 설계문서를 분석하여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50" b="0" i="0">
                <a:solidFill>
                  <a:srgbClr val="1F2937"/>
                </a:solidFill>
                <a:latin typeface="D2Coding"/>
                <a:ea typeface="D2Coding"/>
                <a:cs typeface="D2Coding"/>
              </a:rPr>
              <a:t>개발계획을 세우고 구현 및 테스트 작업을 진행 해주세요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657600"/>
            <a:ext cx="110642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rPr>
              <a:t>이후에는 자연어 한 마디면 충분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500" b="0" i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•  빈 입력(Enter) / "진행해주세요"  →  계획 승인 및 단계별 진행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500" b="0" i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•  ".env에 gemini api key 입력해놓았어~"  →  실제 AI 요약 활성화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500" b="0" i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•  "gmail로 연동 해줘."  →  Mock 대신 실제 Gmail 발송으로 전환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500" b="0" i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•  "서버를 재실행해주세요"  →  변경사항 반영 및 자동 재검증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1908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100" b="0" i="0">
                <a:solidFill>
                  <a:srgbClr val="5A6372"/>
                </a:solidFill>
                <a:latin typeface="Apple SD Gothic Neo"/>
                <a:ea typeface="Apple SD Gothic Neo"/>
                <a:cs typeface="Apple SD Gothic Neo"/>
              </a:rPr>
              <a:t>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400" b="1" i="0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rPr>
              <a:t>PART 2 · 실전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 i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트러블슈팅 4종 (에이전트가 자동 해결)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11064240" cy="457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37944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문제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79" y="1837944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증상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0" y="1837944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해결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240280"/>
            <a:ext cx="11064240" cy="960120"/>
          </a:xfrm>
          <a:prstGeom prst="rect">
            <a:avLst/>
          </a:prstGeom>
          <a:solidFill>
            <a:srgbClr val="F2F4F7"/>
          </a:solidFill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313432"/>
            <a:ext cx="3063240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1" i="0">
                <a:solidFill>
                  <a:srgbClr val="122A5C"/>
                </a:solidFill>
                <a:latin typeface="Apple SD Gothic Neo"/>
                <a:ea typeface="Apple SD Gothic Neo"/>
                <a:cs typeface="Apple SD Gothic Neo"/>
              </a:rPr>
              <a:t>React 19 의존성(peer) 충돌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79" y="2313432"/>
            <a:ext cx="3429000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0" i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npm install 시 lucide-react가 peer dependency 충돌로 설치 실패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2313432"/>
            <a:ext cx="4160520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0" i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루트 install:all 스크립트의 frontend 설치에 --legacy-peer-deps 옵션 추가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200400"/>
            <a:ext cx="110642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273552"/>
            <a:ext cx="3063240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1" i="0">
                <a:solidFill>
                  <a:srgbClr val="122A5C"/>
                </a:solidFill>
                <a:latin typeface="Apple SD Gothic Neo"/>
                <a:ea typeface="Apple SD Gothic Neo"/>
                <a:cs typeface="Apple SD Gothic Neo"/>
              </a:rPr>
              <a:t>포트 3000 충돌 (EADDRINUSE)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79" y="3273552"/>
            <a:ext cx="3429000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0" i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다른 프로세스가 3000 포트를 점유해 API가 500/실패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3273552"/>
            <a:ext cx="4160520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0" i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backend/.env의 PORT=3001로 변경, App.tsx의 BACKEND_URL=http://localhost:3001, .env.example도 동기화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160520"/>
            <a:ext cx="11064240" cy="960120"/>
          </a:xfrm>
          <a:prstGeom prst="rect">
            <a:avLst/>
          </a:prstGeom>
          <a:solidFill>
            <a:srgbClr val="F2F4F7"/>
          </a:solidFill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233672"/>
            <a:ext cx="3063240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1" i="0">
                <a:solidFill>
                  <a:srgbClr val="122A5C"/>
                </a:solidFill>
                <a:latin typeface="Apple SD Gothic Neo"/>
                <a:ea typeface="Apple SD Gothic Neo"/>
                <a:cs typeface="Apple SD Gothic Neo"/>
              </a:rPr>
              <a:t>CORS 차단 (Failed to fetch)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79" y="4233672"/>
            <a:ext cx="3429000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0" i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Vite가 5173 충돌로 5174에서 떴는데 백엔드 CORS가 5173만 허용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4233672"/>
            <a:ext cx="4160520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0" i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index.ts의 CORS 설정을 origin: true(들어오는 origin 동적 허용)로 변경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120640"/>
            <a:ext cx="110642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193792"/>
            <a:ext cx="3063240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1" i="0">
                <a:solidFill>
                  <a:srgbClr val="122A5C"/>
                </a:solidFill>
                <a:latin typeface="Apple SD Gothic Neo"/>
                <a:ea typeface="Apple SD Gothic Neo"/>
                <a:cs typeface="Apple SD Gothic Neo"/>
              </a:rPr>
              <a:t>.env 미로딩 (Mock 폴백)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79" y="5193792"/>
            <a:ext cx="3429000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0" i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Gmail을 설정해도 실제 발송 대신 [MOCK EMAIL OUTBOX]만 동작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5193792"/>
            <a:ext cx="4160520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0" i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CWD 불일치 → dotenv.config({ path: path.resolve(__dirname, '../.env') }) 절대경로로 수정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0" y="641908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100" b="0" i="0">
                <a:solidFill>
                  <a:srgbClr val="5A6372"/>
                </a:solidFill>
                <a:latin typeface="Apple SD Gothic Neo"/>
                <a:ea typeface="Apple SD Gothic Neo"/>
                <a:cs typeface="Apple SD Gothic Neo"/>
              </a:rPr>
              <a:t>10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400" b="1" i="0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rPr>
              <a:t>PART 2 · 핵심 디버깅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 i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가장 까다로운 버그: .env 미로딩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1" i="0">
                <a:solidFill>
                  <a:srgbClr val="B47A09"/>
                </a:solidFill>
                <a:latin typeface="Apple SD Gothic Neo"/>
                <a:ea typeface="Apple SD Gothic Neo"/>
                <a:cs typeface="Apple SD Gothic Neo"/>
              </a:rPr>
              <a:t>증상: Gmail을 정확히 설정했는데도 실제 발송 대신 콘솔에 [MOCK EMAIL OUTBOX]만 출력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 i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원인: 루트에서 concurrently로 백엔드를 띄우면 작업 디렉토리(CWD)가 루트가 되어, 상대경로 dotenv.config()가 backend/.env를 찾지 못함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383280"/>
            <a:ext cx="11064240" cy="1371600"/>
          </a:xfrm>
          <a:prstGeom prst="rect">
            <a:avLst/>
          </a:prstGeom>
          <a:solidFill>
            <a:srgbClr val="F2F4F7"/>
          </a:solidFill>
          <a:ln w="15875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3383280"/>
            <a:ext cx="82296" cy="13716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3493008"/>
            <a:ext cx="10698480" cy="115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 i="0">
                <a:solidFill>
                  <a:srgbClr val="1D4ED8"/>
                </a:solidFill>
                <a:latin typeface="Apple SD Gothic Neo"/>
                <a:ea typeface="Apple SD Gothic Neo"/>
                <a:cs typeface="Apple SD Gothic Neo"/>
              </a:rPr>
              <a:t>해결: 절대경로로 .env 로드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50" b="0" i="0">
                <a:solidFill>
                  <a:srgbClr val="1F2937"/>
                </a:solidFill>
                <a:latin typeface="D2Coding"/>
                <a:ea typeface="D2Coding"/>
                <a:cs typeface="D2Coding"/>
              </a:rPr>
              <a:t>// backend/src/index.ts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50" b="0" i="0">
                <a:solidFill>
                  <a:srgbClr val="1F2937"/>
                </a:solidFill>
                <a:latin typeface="D2Coding"/>
                <a:ea typeface="D2Coding"/>
                <a:cs typeface="D2Coding"/>
              </a:rPr>
              <a:t>import path from 'path';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50" b="0" i="0">
                <a:solidFill>
                  <a:srgbClr val="1F2937"/>
                </a:solidFill>
                <a:latin typeface="D2Coding"/>
                <a:ea typeface="D2Coding"/>
                <a:cs typeface="D2Coding"/>
              </a:rPr>
              <a:t>dotenv.config({ path: path.resolve(__dirname, '../.env') });  // 절대경로로 .env 로드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02920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50" b="1" i="0">
                <a:solidFill>
                  <a:srgbClr val="0A7A3F"/>
                </a:solidFill>
                <a:latin typeface="Apple SD Gothic Neo"/>
                <a:ea typeface="Apple SD Gothic Neo"/>
                <a:cs typeface="Apple SD Gothic Neo"/>
              </a:rPr>
              <a:t>결과: 재기동 후 SMTP 경고 없이 '회의 요약 이메일 전송 완료!' 토스트 → 실제 Gmail 발송 성공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1908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100" b="0" i="0">
                <a:solidFill>
                  <a:srgbClr val="5A6372"/>
                </a:solidFill>
                <a:latin typeface="Apple SD Gothic Neo"/>
                <a:ea typeface="Apple SD Gothic Neo"/>
                <a:cs typeface="Apple SD Gothic Neo"/>
              </a:rPr>
              <a:t>11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400" b="1" i="0">
                <a:solidFill>
                  <a:srgbClr val="1D4ED8"/>
                </a:solidFill>
                <a:latin typeface="Apple SD Gothic Neo"/>
                <a:ea typeface="Apple SD Gothic Neo"/>
                <a:cs typeface="Apple SD Gothic Neo"/>
              </a:rPr>
              <a:t>PART 2 · 실행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 i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설치 · 실행 · 환경변수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 i="0">
                <a:solidFill>
                  <a:srgbClr val="1D4ED8"/>
                </a:solidFill>
                <a:latin typeface="Apple SD Gothic Neo"/>
                <a:ea typeface="Apple SD Gothic Neo"/>
                <a:cs typeface="Apple SD Gothic Neo"/>
              </a:rPr>
              <a:t>설치 &amp; 실행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240280"/>
            <a:ext cx="5486400" cy="1828800"/>
          </a:xfrm>
          <a:prstGeom prst="rect">
            <a:avLst/>
          </a:prstGeom>
          <a:solidFill>
            <a:srgbClr val="F2F4F7"/>
          </a:solidFill>
          <a:ln w="15875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240280"/>
            <a:ext cx="82296" cy="18288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350008"/>
            <a:ext cx="5120640" cy="1609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 i="0">
                <a:solidFill>
                  <a:srgbClr val="1D4ED8"/>
                </a:solidFill>
                <a:latin typeface="Apple SD Gothic Neo"/>
                <a:ea typeface="Apple SD Gothic Neo"/>
                <a:cs typeface="Apple SD Gothic Neo"/>
              </a:rPr>
              <a:t>루트에서 실행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50" b="0" i="0">
                <a:solidFill>
                  <a:srgbClr val="1F2937"/>
                </a:solidFill>
                <a:latin typeface="D2Coding"/>
                <a:ea typeface="D2Coding"/>
                <a:cs typeface="D2Coding"/>
              </a:rPr>
              <a:t>npm run install:all   # 의존성 일괄 설치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50" b="0" i="0">
                <a:solidFill>
                  <a:srgbClr val="1F2937"/>
                </a:solidFill>
                <a:latin typeface="D2Coding"/>
                <a:ea typeface="D2Coding"/>
                <a:cs typeface="D2Coding"/>
              </a:rPr>
              <a:t>npm run dev           # 백엔드(:3001)+프론트(:5173)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50" b="0" i="0">
                <a:solidFill>
                  <a:srgbClr val="1F2937"/>
                </a:solidFill>
                <a:latin typeface="D2Coding"/>
                <a:ea typeface="D2Coding"/>
                <a:cs typeface="D2Coding"/>
              </a:rPr>
              <a:t>                      # 동시 기동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29768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1" i="0">
                <a:solidFill>
                  <a:srgbClr val="5A6372"/>
                </a:solidFill>
                <a:latin typeface="Apple SD Gothic Neo"/>
                <a:ea typeface="Apple SD Gothic Neo"/>
                <a:cs typeface="Apple SD Gothic Neo"/>
              </a:rPr>
              <a:t>Mock 폴백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 i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GEMINI_API_KEY가 비면 Mock 요약, SMTP가 비면 콘솔 출력. 키 없이도 UI 전체 흐름을 먼저 검증할 수 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7373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 i="0">
                <a:solidFill>
                  <a:srgbClr val="1D4ED8"/>
                </a:solidFill>
                <a:latin typeface="Apple SD Gothic Neo"/>
                <a:ea typeface="Apple SD Gothic Neo"/>
                <a:cs typeface="Apple SD Gothic Neo"/>
              </a:rPr>
              <a:t>backend/.env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2240280"/>
            <a:ext cx="5303520" cy="3657600"/>
          </a:xfrm>
          <a:prstGeom prst="rect">
            <a:avLst/>
          </a:prstGeom>
          <a:solidFill>
            <a:srgbClr val="F2F4F7"/>
          </a:solidFill>
          <a:ln w="15875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2240280"/>
            <a:ext cx="82296" cy="36576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0528" y="2350008"/>
            <a:ext cx="4937760" cy="3438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 i="0">
                <a:solidFill>
                  <a:srgbClr val="1D4ED8"/>
                </a:solidFill>
                <a:latin typeface="Apple SD Gothic Neo"/>
                <a:ea typeface="Apple SD Gothic Neo"/>
                <a:cs typeface="Apple SD Gothic Neo"/>
              </a:rPr>
              <a:t>환경 변수 (더미값은 교체)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50" b="0" i="0">
                <a:solidFill>
                  <a:srgbClr val="1F2937"/>
                </a:solidFill>
                <a:latin typeface="D2Coding"/>
                <a:ea typeface="D2Coding"/>
                <a:cs typeface="D2Coding"/>
              </a:rPr>
              <a:t>PORT=3001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50" b="0" i="0">
                <a:solidFill>
                  <a:srgbClr val="1F2937"/>
                </a:solidFill>
                <a:latin typeface="D2Coding"/>
                <a:ea typeface="D2Coding"/>
                <a:cs typeface="D2Coding"/>
              </a:rPr>
              <a:t>GEMINI_API_KEY=(발급받은 키)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50" b="0" i="0">
                <a:solidFill>
                  <a:srgbClr val="1F2937"/>
                </a:solidFill>
                <a:latin typeface="D2Coding"/>
                <a:ea typeface="D2Coding"/>
                <a:cs typeface="D2Coding"/>
              </a:rPr>
              <a:t>SMTP_HOST=smtp.gmail.com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50" b="0" i="0">
                <a:solidFill>
                  <a:srgbClr val="1F2937"/>
                </a:solidFill>
                <a:latin typeface="D2Coding"/>
                <a:ea typeface="D2Coding"/>
                <a:cs typeface="D2Coding"/>
              </a:rPr>
              <a:t>SMTP_PORT=587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50" b="0" i="0">
                <a:solidFill>
                  <a:srgbClr val="1F2937"/>
                </a:solidFill>
                <a:latin typeface="D2Coding"/>
                <a:ea typeface="D2Coding"/>
                <a:cs typeface="D2Coding"/>
              </a:rPr>
              <a:t>SMTP_USER=(본인 Gmail 주소)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50" b="0" i="0">
                <a:solidFill>
                  <a:srgbClr val="1F2937"/>
                </a:solidFill>
                <a:latin typeface="D2Coding"/>
                <a:ea typeface="D2Coding"/>
                <a:cs typeface="D2Coding"/>
              </a:rPr>
              <a:t>SMTP_PASS=(앱 비밀번호 16자)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50" b="0" i="0">
                <a:solidFill>
                  <a:srgbClr val="1F2937"/>
                </a:solidFill>
                <a:latin typeface="D2Coding"/>
                <a:ea typeface="D2Coding"/>
                <a:cs typeface="D2Coding"/>
              </a:rPr>
              <a:t>SMTP_FROM=(발신 표기 주소)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41908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100" b="0" i="0">
                <a:solidFill>
                  <a:srgbClr val="5A6372"/>
                </a:solidFill>
                <a:latin typeface="Apple SD Gothic Neo"/>
                <a:ea typeface="Apple SD Gothic Neo"/>
                <a:cs typeface="Apple SD Gothic Neo"/>
              </a:rPr>
              <a:t>12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17520"/>
            <a:ext cx="12191695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56032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2200" b="1" i="0">
                <a:solidFill>
                  <a:srgbClr val="9DB8F0"/>
                </a:solidFill>
                <a:latin typeface="Apple SD Gothic Neo"/>
                <a:ea typeface="Apple SD Gothic Neo"/>
                <a:cs typeface="Apple SD Gothic Neo"/>
              </a:rPr>
              <a:t>PART 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최종 결과물 &amp; 완성 체크리스트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400" b="1" i="0">
                <a:solidFill>
                  <a:srgbClr val="1D4ED8"/>
                </a:solidFill>
                <a:latin typeface="Apple SD Gothic Neo"/>
                <a:ea typeface="Apple SD Gothic Neo"/>
                <a:cs typeface="Apple SD Gothic Neo"/>
              </a:rPr>
              <a:t>PART 3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 i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완성된 기술 스택 &amp;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700" b="1" i="0">
                <a:solidFill>
                  <a:srgbClr val="1D4ED8"/>
                </a:solidFill>
                <a:latin typeface="Apple SD Gothic Neo"/>
                <a:ea typeface="Apple SD Gothic Neo"/>
                <a:cs typeface="Apple SD Gothic Neo"/>
              </a:rPr>
              <a:t>기술 스택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00" b="1" i="0">
                <a:solidFill>
                  <a:srgbClr val="122A5C"/>
                </a:solidFill>
                <a:latin typeface="Apple SD Gothic Neo"/>
                <a:ea typeface="Apple SD Gothic Neo"/>
                <a:cs typeface="Apple SD Gothic Neo"/>
              </a:rPr>
              <a:t>백엔드</a:t>
            </a:r>
          </a:p>
          <a:p>
            <a:pPr algn="l">
              <a:lnSpc>
                <a:spcPct val="122000"/>
              </a:lnSpc>
              <a:spcAft>
                <a:spcPts val="1000"/>
              </a:spcAft>
            </a:pPr>
            <a:r>
              <a:rPr sz="1250" b="0" i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Node.js + Express 4 + TypeScript(ts-node-dev), cors, dotenv, multer(오디오 20MB), nodemailer. Gemini는 SDK 없이 REST(fetch)로 gemini-2.5-flash:generateContent 직접 호출.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00" b="1" i="0">
                <a:solidFill>
                  <a:srgbClr val="122A5C"/>
                </a:solidFill>
                <a:latin typeface="Apple SD Gothic Neo"/>
                <a:ea typeface="Apple SD Gothic Neo"/>
                <a:cs typeface="Apple SD Gothic Neo"/>
              </a:rPr>
              <a:t>프론트엔드</a:t>
            </a:r>
          </a:p>
          <a:p>
            <a:pPr algn="l">
              <a:lnSpc>
                <a:spcPct val="122000"/>
              </a:lnSpc>
              <a:spcAft>
                <a:spcPts val="1000"/>
              </a:spcAft>
            </a:pPr>
            <a:r>
              <a:rPr sz="1250" b="0" i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React 19 + Vite + TypeScript + Tailwind CSS v4 + lucide-react. 외부 UI 라이브러리 없이 fetch와 커스텀 Toast/Modal 직접 구현. 상태는 React 훅 + LocalStorage.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00" b="1" i="0">
                <a:solidFill>
                  <a:srgbClr val="122A5C"/>
                </a:solidFill>
                <a:latin typeface="Apple SD Gothic Neo"/>
                <a:ea typeface="Apple SD Gothic Neo"/>
                <a:cs typeface="Apple SD Gothic Neo"/>
              </a:rPr>
              <a:t>루트</a:t>
            </a:r>
          </a:p>
          <a:p>
            <a:pPr algn="l">
              <a:lnSpc>
                <a:spcPct val="122000"/>
              </a:lnSpc>
              <a:spcAft>
                <a:spcPts val="1000"/>
              </a:spcAft>
            </a:pPr>
            <a:r>
              <a:rPr sz="1250" b="0" i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concurrently로 백엔드(:3001)와 프론트엔드(:5173/5174)를 동시 기동.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73736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700" b="1" i="0">
                <a:solidFill>
                  <a:srgbClr val="1D4ED8"/>
                </a:solidFill>
                <a:latin typeface="Apple SD Gothic Neo"/>
                <a:ea typeface="Apple SD Gothic Neo"/>
                <a:cs typeface="Apple SD Gothic Neo"/>
              </a:rPr>
              <a:t>API 엔드포인트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400" b="1" i="0">
                <a:solidFill>
                  <a:srgbClr val="7C3AED"/>
                </a:solidFill>
                <a:latin typeface="D2Coding"/>
                <a:ea typeface="D2Coding"/>
                <a:cs typeface="D2Coding"/>
              </a:rPr>
              <a:t>POST  /api/summarize</a:t>
            </a:r>
          </a:p>
          <a:p>
            <a:pPr algn="l">
              <a:lnSpc>
                <a:spcPct val="122000"/>
              </a:lnSpc>
              <a:spcAft>
                <a:spcPts val="1000"/>
              </a:spcAft>
            </a:pPr>
            <a:r>
              <a:rPr sz="1250" b="0" i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JSON { text } 회의록 텍스트 → Gemini 요약 + 액션 아이템(구조화 JSON). 키 없으면 Mock.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400" b="1" i="0">
                <a:solidFill>
                  <a:srgbClr val="7C3AED"/>
                </a:solidFill>
                <a:latin typeface="D2Coding"/>
                <a:ea typeface="D2Coding"/>
                <a:cs typeface="D2Coding"/>
              </a:rPr>
              <a:t>POST  /api/summarize-audio</a:t>
            </a:r>
          </a:p>
          <a:p>
            <a:pPr algn="l">
              <a:lnSpc>
                <a:spcPct val="122000"/>
              </a:lnSpc>
              <a:spcAft>
                <a:spcPts val="1000"/>
              </a:spcAft>
            </a:pPr>
            <a:r>
              <a:rPr sz="1250" b="0" i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multipart audio 파일 → inline base64로 Gemini에 전달해 요약(2단계 확장 기능).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400" b="1" i="0">
                <a:solidFill>
                  <a:srgbClr val="7C3AED"/>
                </a:solidFill>
                <a:latin typeface="D2Coding"/>
                <a:ea typeface="D2Coding"/>
                <a:cs typeface="D2Coding"/>
              </a:rPr>
              <a:t>POST  /api/send-email</a:t>
            </a:r>
          </a:p>
          <a:p>
            <a:pPr algn="l">
              <a:lnSpc>
                <a:spcPct val="122000"/>
              </a:lnSpc>
              <a:spcAft>
                <a:spcPts val="1000"/>
              </a:spcAft>
            </a:pPr>
            <a:r>
              <a:rPr sz="1250" b="0" i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JSON { summary, action_items, emails } → Nodemailer로 HTML 메일 발송. SMTP 미설정 시 콘솔 로그 폴백.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1908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100" b="0" i="0">
                <a:solidFill>
                  <a:srgbClr val="5A6372"/>
                </a:solidFill>
                <a:latin typeface="Apple SD Gothic Neo"/>
                <a:ea typeface="Apple SD Gothic Neo"/>
                <a:cs typeface="Apple SD Gothic Neo"/>
              </a:rPr>
              <a:t>13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400" b="1" i="0">
                <a:solidFill>
                  <a:srgbClr val="1D4ED8"/>
                </a:solidFill>
                <a:latin typeface="Apple SD Gothic Neo"/>
                <a:ea typeface="Apple SD Gothic Neo"/>
                <a:cs typeface="Apple SD Gothic Neo"/>
              </a:rPr>
              <a:t>PART 3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 i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완성 체크리스트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4114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70992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 i="0">
                <a:solidFill>
                  <a:srgbClr val="1D4ED8"/>
                </a:solidFill>
                <a:latin typeface="Apple SD Gothic Neo"/>
                <a:ea typeface="Apple SD Gothic Neo"/>
                <a:cs typeface="Apple SD Gothic Neo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709928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 i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설계: URD·ADR·UI 3종 문서를 생성→리뷰→개선 패턴으로 모두 완성했다.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276856"/>
            <a:ext cx="4114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295144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 i="0">
                <a:solidFill>
                  <a:srgbClr val="1D4ED8"/>
                </a:solidFill>
                <a:latin typeface="Apple SD Gothic Neo"/>
                <a:ea typeface="Apple SD Gothic Neo"/>
                <a:cs typeface="Apple SD Gothic Neo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295144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 i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구현: 코딩 에이전트가 backend/ 와 frontend/ 코드를 모두 생성했다.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862072"/>
            <a:ext cx="4114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88036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 i="0">
                <a:solidFill>
                  <a:srgbClr val="1D4ED8"/>
                </a:solidFill>
                <a:latin typeface="Apple SD Gothic Neo"/>
                <a:ea typeface="Apple SD Gothic Neo"/>
                <a:cs typeface="Apple SD Gothic Neo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88036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 i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실행: npm run install:all → npm run dev 로 두 서버가 동시에 떴다.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447288"/>
            <a:ext cx="4114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465576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 i="0">
                <a:solidFill>
                  <a:srgbClr val="1D4ED8"/>
                </a:solidFill>
                <a:latin typeface="Apple SD Gothic Neo"/>
                <a:ea typeface="Apple SD Gothic Neo"/>
                <a:cs typeface="Apple SD Gothic Neo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465576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 i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기능: 팀원 이메일을 추가하면 탭 배지 숫자가 증가한다.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032504"/>
            <a:ext cx="4114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050792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 i="0">
                <a:solidFill>
                  <a:srgbClr val="1D4ED8"/>
                </a:solidFill>
                <a:latin typeface="Apple SD Gothic Neo"/>
                <a:ea typeface="Apple SD Gothic Neo"/>
                <a:cs typeface="Apple SD Gothic Neo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050792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 i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기능: 회의록 텍스트를 넣고 요약 버튼을 누르면 요약+액션 아이템 테이블이 뜬다.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617720"/>
            <a:ext cx="4114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63600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 i="0">
                <a:solidFill>
                  <a:srgbClr val="1D4ED8"/>
                </a:solidFill>
                <a:latin typeface="Apple SD Gothic Neo"/>
                <a:ea typeface="Apple SD Gothic Neo"/>
                <a:cs typeface="Apple SD Gothic Neo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636008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 i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연동: backend/.env에 GEMINI_API_KEY를 넣으니 실제 AI 요약이 동작한다.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202936"/>
            <a:ext cx="4114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5221224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 i="0">
                <a:solidFill>
                  <a:srgbClr val="1D4ED8"/>
                </a:solidFill>
                <a:latin typeface="Apple SD Gothic Neo"/>
                <a:ea typeface="Apple SD Gothic Neo"/>
                <a:cs typeface="Apple SD Gothic Neo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221224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 i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연동: SMTP_USER/PASS를 채우고 재실행하니 실제 Gmail로 메일이 발송된다.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788152"/>
            <a:ext cx="4114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80644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 i="0">
                <a:solidFill>
                  <a:srgbClr val="1D4ED8"/>
                </a:solidFill>
                <a:latin typeface="Apple SD Gothic Neo"/>
                <a:ea typeface="Apple SD Gothic Neo"/>
                <a:cs typeface="Apple SD Gothic Neo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580644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 i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보안: .env가 .gitignore에 포함되어 깃에 올라가지 않는다.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07040" y="641908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100" b="0" i="0">
                <a:solidFill>
                  <a:srgbClr val="5A6372"/>
                </a:solidFill>
                <a:latin typeface="Apple SD Gothic Neo"/>
                <a:ea typeface="Apple SD Gothic Neo"/>
                <a:cs typeface="Apple SD Gothic Neo"/>
              </a:rPr>
              <a:t>14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400" b="1" i="0">
                <a:solidFill>
                  <a:srgbClr val="1D4ED8"/>
                </a:solidFill>
                <a:latin typeface="Apple SD Gothic Neo"/>
                <a:ea typeface="Apple SD Gothic Neo"/>
                <a:cs typeface="Apple SD Gothic Neo"/>
              </a:rPr>
              <a:t>WRAP-UP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 i="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핵심 학습 포인트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1400"/>
              </a:spcAft>
            </a:pPr>
            <a:r>
              <a:rPr sz="1550" b="1">
                <a:solidFill>
                  <a:srgbClr val="1D4ED8"/>
                </a:solidFill>
                <a:latin typeface="Apple SD Gothic Neo"/>
                <a:ea typeface="Apple SD Gothic Neo"/>
                <a:cs typeface="Apple SD Gothic Neo"/>
              </a:rPr>
              <a:t>•  설계 우선 — </a:t>
            </a:r>
            <a:r>
              <a:rPr sz="150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바로 코딩하지 말고 URD→ADR→UI 순서로 문서를 먼저 확정하면, 구현 단계의 시행착오가 크게 줄어든다.</a:t>
            </a:r>
          </a:p>
          <a:p>
            <a:pPr>
              <a:lnSpc>
                <a:spcPct val="122000"/>
              </a:lnSpc>
              <a:spcAft>
                <a:spcPts val="1400"/>
              </a:spcAft>
            </a:pPr>
            <a:r>
              <a:rPr sz="1550" b="1">
                <a:solidFill>
                  <a:srgbClr val="1D4ED8"/>
                </a:solidFill>
                <a:latin typeface="Apple SD Gothic Neo"/>
                <a:ea typeface="Apple SD Gothic Neo"/>
                <a:cs typeface="Apple SD Gothic Neo"/>
              </a:rPr>
              <a:t>•  모델 교차 검증 — </a:t>
            </a:r>
            <a:r>
              <a:rPr sz="150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한 모델(Gemini)로 생성하고 다른 모델(Claude)로 리뷰하면 사실 오류·보안 공백을 효과적으로 잡아낸다.</a:t>
            </a:r>
          </a:p>
          <a:p>
            <a:pPr>
              <a:lnSpc>
                <a:spcPct val="122000"/>
              </a:lnSpc>
              <a:spcAft>
                <a:spcPts val="1400"/>
              </a:spcAft>
            </a:pPr>
            <a:r>
              <a:rPr sz="1550" b="1">
                <a:solidFill>
                  <a:srgbClr val="1D4ED8"/>
                </a:solidFill>
                <a:latin typeface="Apple SD Gothic Neo"/>
                <a:ea typeface="Apple SD Gothic Neo"/>
                <a:cs typeface="Apple SD Gothic Neo"/>
              </a:rPr>
              <a:t>•  에이전트는 디버깅까지 시킨다 — </a:t>
            </a:r>
            <a:r>
              <a:rPr sz="150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포트 충돌·CORS·.env 경로 같은 실전 버그도 '증상을 알려주고 고쳐 달라'고 하면 스스로 해결한다.</a:t>
            </a:r>
          </a:p>
          <a:p>
            <a:pPr>
              <a:lnSpc>
                <a:spcPct val="122000"/>
              </a:lnSpc>
              <a:spcAft>
                <a:spcPts val="1400"/>
              </a:spcAft>
            </a:pPr>
            <a:r>
              <a:rPr sz="1550" b="1">
                <a:solidFill>
                  <a:srgbClr val="1D4ED8"/>
                </a:solidFill>
                <a:latin typeface="Apple SD Gothic Neo"/>
                <a:ea typeface="Apple SD Gothic Neo"/>
                <a:cs typeface="Apple SD Gothic Neo"/>
              </a:rPr>
              <a:t>•  Mock 폴백 활용 — </a:t>
            </a:r>
            <a:r>
              <a:rPr sz="150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API 키가 없어도 Mock 응답으로 UI 흐름 전체를 먼저 검증한 뒤, 마지막에 실제 키를 연결하면 안전하다.</a:t>
            </a:r>
          </a:p>
          <a:p>
            <a:pPr>
              <a:lnSpc>
                <a:spcPct val="122000"/>
              </a:lnSpc>
              <a:spcAft>
                <a:spcPts val="1400"/>
              </a:spcAft>
            </a:pPr>
            <a:r>
              <a:rPr sz="1550" b="1">
                <a:solidFill>
                  <a:srgbClr val="1D4ED8"/>
                </a:solidFill>
                <a:latin typeface="Apple SD Gothic Neo"/>
                <a:ea typeface="Apple SD Gothic Neo"/>
                <a:cs typeface="Apple SD Gothic Neo"/>
              </a:rPr>
              <a:t>•  자격증명은 .env에만 — </a:t>
            </a:r>
            <a:r>
              <a:rPr sz="1500">
                <a:solidFill>
                  <a:srgbClr val="1F2937"/>
                </a:solidFill>
                <a:latin typeface="Apple SD Gothic Neo"/>
                <a:ea typeface="Apple SD Gothic Neo"/>
                <a:cs typeface="Apple SD Gothic Neo"/>
              </a:rPr>
              <a:t>키·비밀번호는 절대 프론트엔드/깃에 두지 말고 백엔드 .env + .gitignore로 보호한다.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1908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100" b="0" i="0">
                <a:solidFill>
                  <a:srgbClr val="5A6372"/>
                </a:solidFill>
                <a:latin typeface="Apple SD Gothic Neo"/>
                <a:ea typeface="Apple SD Gothic Neo"/>
                <a:cs typeface="Apple SD Gothic Neo"/>
              </a:rPr>
              <a:t>15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40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이제 직접 만들어 보세요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 i="0">
                <a:solidFill>
                  <a:srgbClr val="C8D6F0"/>
                </a:solidFill>
                <a:latin typeface="Apple SD Gothic Neo"/>
                <a:ea typeface="Apple SD Gothic Neo"/>
                <a:cs typeface="Apple SD Gothic Neo"/>
              </a:rPr>
              <a:t>설계는 LLM과 대화로, 구현은 에이전트에게. 상세 프롬프트는 실습교제(docx)에 모두 있습니다.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